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0" r:id="rId15"/>
    <p:sldId id="268" r:id="rId16"/>
    <p:sldId id="269" r:id="rId17"/>
    <p:sldId id="272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33" autoAdjust="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outlineViewPr>
    <p:cViewPr>
      <p:scale>
        <a:sx n="33" d="100"/>
        <a:sy n="33" d="100"/>
      </p:scale>
      <p:origin x="0" y="-258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CCBE7-E325-4312-AF47-86B114E3C013}" type="datetimeFigureOut">
              <a:rPr lang="zh-TW" altLang="en-US" smtClean="0"/>
              <a:t>Thursday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A921F1-A192-4B3B-8EE5-8558612E87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875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物件導向程式語言期末自選題</a:t>
            </a:r>
            <a:r>
              <a:rPr lang="zh-TW" altLang="zh-TW" dirty="0"/>
              <a:t>第 13 組 </a:t>
            </a:r>
            <a:r>
              <a:rPr lang="zh-TW" altLang="zh-TW" sz="1200" dirty="0"/>
              <a:t>Personal Budget Book </a:t>
            </a:r>
            <a:br>
              <a:rPr lang="en-US" altLang="zh-TW" sz="1200" dirty="0"/>
            </a:br>
            <a:r>
              <a:rPr lang="zh-TW" altLang="zh-TW" sz="1200" dirty="0"/>
              <a:t>個人記帳本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921F1-A192-4B3B-8EE5-8558612E876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1031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zh-TW" dirty="0"/>
              <a:t>專案動機與目標</a:t>
            </a:r>
            <a:br>
              <a:rPr lang="en-US" altLang="zh-TW" dirty="0"/>
            </a:br>
            <a:r>
              <a:rPr lang="zh-TW" altLang="zh-TW" sz="1200" dirty="0"/>
              <a:t>本系統旨在解決現代人因消費管道多元（現金、行動支付、信用卡）導致的財 務管理破碎化問題。</a:t>
            </a:r>
            <a:endParaRPr lang="en-US" altLang="zh-TW" sz="1200" dirty="0"/>
          </a:p>
          <a:p>
            <a:pPr marL="0" indent="0">
              <a:buNone/>
            </a:pPr>
            <a:r>
              <a:rPr lang="zh-TW" altLang="zh-TW" sz="1200" dirty="0"/>
              <a:t>透過四層式系統架構，我們不僅提供基礎的帳務記錄更導入「互動式導引」與「遊戲化激勵機制」，將枯燥的記帳行為轉化為具備成 就感的每日任務。</a:t>
            </a:r>
            <a:endParaRPr lang="en-US" altLang="zh-TW" sz="12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921F1-A192-4B3B-8EE5-8558612E876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4968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系統功能總覽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921F1-A192-4B3B-8EE5-8558612E876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370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Figma 到 Java Swing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921F1-A192-4B3B-8EE5-8558612E876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4648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這是使用到的技術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921F1-A192-4B3B-8EE5-8558612E876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6112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dirty="0"/>
              <a:t>本專案使用 MySQL 作為資料庫，用來儲存使用者的錢包資料、收入支出紀錄，以及每月預算設定。</a:t>
            </a:r>
            <a:br>
              <a:rPr lang="zh-TW" altLang="zh-TW" dirty="0"/>
            </a:br>
            <a:r>
              <a:rPr lang="zh-TW" altLang="zh-TW" dirty="0"/>
              <a:t>Java Swing 介面透過 JDBC 連線到 MySQL，所有新增、查詢、刪除交易都會直接寫入資料庫。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921F1-A192-4B3B-8EE5-8558612E876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527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這是我們的資料庫設計。</a:t>
            </a:r>
            <a:br>
              <a:rPr lang="zh-TW" altLang="zh-TW" dirty="0"/>
            </a:br>
            <a:r>
              <a:rPr lang="zh-TW" altLang="zh-TW" dirty="0"/>
              <a:t>我們使用 MySQL 儲存資料，主要有三張表：accounts、transactions 和 settings。</a:t>
            </a:r>
            <a:br>
              <a:rPr lang="zh-TW" altLang="zh-TW" dirty="0"/>
            </a:br>
            <a:r>
              <a:rPr lang="zh-TW" altLang="zh-TW" dirty="0"/>
              <a:t>accounts 用來存錢包資料，例如現金、銀行帳戶或電子支付。</a:t>
            </a:r>
            <a:br>
              <a:rPr lang="zh-TW" altLang="zh-TW" dirty="0"/>
            </a:br>
            <a:r>
              <a:rPr lang="zh-TW" altLang="zh-TW" dirty="0"/>
              <a:t>transactions 用來存每一筆收入與支出紀錄，例如日期、時間、分類、金額和備註。</a:t>
            </a:r>
            <a:br>
              <a:rPr lang="zh-TW" altLang="zh-TW" dirty="0"/>
            </a:br>
            <a:r>
              <a:rPr lang="zh-TW" altLang="zh-TW" dirty="0"/>
              <a:t>settings 則用來存每月預算和種樹點數。</a:t>
            </a:r>
            <a:br>
              <a:rPr lang="zh-TW" altLang="zh-TW" dirty="0"/>
            </a:br>
            <a:r>
              <a:rPr lang="zh-TW" altLang="zh-TW" dirty="0"/>
              <a:t>最重要的關聯是 transactions 裡面的 account_id，會對應到 accounts 的 id。</a:t>
            </a:r>
            <a:br>
              <a:rPr lang="zh-TW" altLang="zh-TW" dirty="0"/>
            </a:br>
            <a:r>
              <a:rPr lang="zh-TW" altLang="zh-TW" dirty="0"/>
              <a:t>也就是說，每一筆交易都會屬於某一個錢包，而一個錢包可以有很多筆交易。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921F1-A192-4B3B-8EE5-8558612E876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3646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支出的分類可以選擇許多分類 錢包也可以選擇不同的支出方式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921F1-A192-4B3B-8EE5-8558612E876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5926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財務摘要</a:t>
            </a:r>
            <a:r>
              <a:rPr lang="zh-TW" altLang="en-US" dirty="0"/>
              <a:t>的部分可以看到支出以及收入的分類幫助分類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921F1-A192-4B3B-8EE5-8558612E876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41844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我們的特色功能是查詢助手和種樹機制。查詢助手可以快速回答常見財務問題。種樹機制則是把記帳次數轉換成澆水進度，讓使用者更有動機持續記帳。</a:t>
            </a:r>
            <a:endParaRPr lang="en-US" altLang="zh-TW" dirty="0"/>
          </a:p>
          <a:p>
            <a:r>
              <a:rPr lang="zh-TW" altLang="zh-TW" dirty="0"/>
              <a:t>新增一筆記帳等於澆水一次，本月澆水 20 次就完成一棵樹。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921F1-A192-4B3B-8EE5-8558612E876E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49372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dirty="0"/>
              <a:t>流程圖</a:t>
            </a:r>
            <a:endParaRPr lang="en-US" altLang="zh-TW" dirty="0"/>
          </a:p>
          <a:p>
            <a:r>
              <a:rPr lang="zh-TW" altLang="en-US" sz="1200" dirty="0"/>
              <a:t>啟動程式</a:t>
            </a:r>
          </a:p>
          <a:p>
            <a:r>
              <a:rPr lang="zh-TW" altLang="en-US" sz="1200" dirty="0"/>
              <a:t>   ↓</a:t>
            </a:r>
          </a:p>
          <a:p>
            <a:r>
              <a:rPr lang="zh-TW" altLang="en-US" sz="1200" dirty="0"/>
              <a:t>首頁</a:t>
            </a:r>
          </a:p>
          <a:p>
            <a:r>
              <a:rPr lang="zh-TW" altLang="en-US" sz="1200" dirty="0"/>
              <a:t>   ↓</a:t>
            </a:r>
          </a:p>
          <a:p>
            <a:r>
              <a:rPr lang="zh-TW" altLang="en-US" sz="1200" dirty="0"/>
              <a:t>新增支出</a:t>
            </a:r>
          </a:p>
          <a:p>
            <a:r>
              <a:rPr lang="zh-TW" altLang="en-US" sz="1200" dirty="0"/>
              <a:t>   ↓</a:t>
            </a:r>
          </a:p>
          <a:p>
            <a:r>
              <a:rPr lang="zh-TW" altLang="en-US" sz="1200" dirty="0"/>
              <a:t>新增收入</a:t>
            </a:r>
          </a:p>
          <a:p>
            <a:r>
              <a:rPr lang="zh-TW" altLang="en-US" sz="1200" dirty="0"/>
              <a:t>   ↓</a:t>
            </a:r>
          </a:p>
          <a:p>
            <a:r>
              <a:rPr lang="zh-TW" altLang="en-US" sz="1200" dirty="0"/>
              <a:t>查看交易紀錄</a:t>
            </a:r>
          </a:p>
          <a:p>
            <a:r>
              <a:rPr lang="zh-TW" altLang="en-US" sz="1200" dirty="0"/>
              <a:t>   ↓</a:t>
            </a:r>
          </a:p>
          <a:p>
            <a:r>
              <a:rPr lang="zh-TW" altLang="en-US" sz="1200" dirty="0"/>
              <a:t>查看分析</a:t>
            </a:r>
          </a:p>
          <a:p>
            <a:r>
              <a:rPr lang="zh-TW" altLang="en-US" sz="1200" dirty="0"/>
              <a:t>   ↓</a:t>
            </a:r>
          </a:p>
          <a:p>
            <a:r>
              <a:rPr lang="zh-TW" altLang="en-US" sz="1200" dirty="0"/>
              <a:t>種樹狀態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921F1-A192-4B3B-8EE5-8558612E876E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1223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接下來說明如果別人從 GitHub clone 我們的專案後，要怎麼執行出一樣的系統。</a:t>
            </a:r>
          </a:p>
          <a:p>
            <a:r>
              <a:rPr lang="zh-TW" altLang="zh-TW" dirty="0"/>
              <a:t>首先需要安裝 Java 25 和 MySQL Server 8.0。接著從 GitHub clone 專案，進入專案資料夾。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921F1-A192-4B3B-8EE5-8558612E876E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91322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因為我們的專案有使用 MySQL Connector/J 和 FlatLaf，所以需要把這兩個 jar 檔放到 lib 資料夾。run.bat 會透過 </a:t>
            </a:r>
            <a:r>
              <a:rPr lang="zh-TW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lib/*</a:t>
            </a:r>
            <a:r>
              <a:rPr lang="zh-TW" altLang="zh-TW" dirty="0"/>
              <a:t> 自動載入這些 jar。</a:t>
            </a:r>
          </a:p>
          <a:p>
            <a:r>
              <a:rPr lang="zh-TW" altLang="zh-TW" dirty="0"/>
              <a:t>接著要確認 MySQL 服務有啟動。如果 MySQL root 沒有密碼，就可以直接使用預設設定執行。如果 root 有密碼，就需要在 data 資料夾中建立 </a:t>
            </a:r>
            <a:r>
              <a:rPr lang="zh-TW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database.properties</a:t>
            </a:r>
            <a:r>
              <a:rPr lang="zh-TW" altLang="zh-TW" dirty="0"/>
              <a:t>，並填入自己的 MySQL 帳號密碼。</a:t>
            </a:r>
          </a:p>
          <a:p>
            <a:r>
              <a:rPr lang="zh-TW" altLang="zh-TW" dirty="0"/>
              <a:t>程式連線的資料庫名稱是 </a:t>
            </a:r>
            <a:r>
              <a:rPr lang="zh-TW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personal_budget_book</a:t>
            </a:r>
            <a:r>
              <a:rPr lang="zh-TW" altLang="zh-TW" dirty="0"/>
              <a:t>。因為連線字串中有 </a:t>
            </a:r>
            <a:r>
              <a:rPr lang="zh-TW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createDatabaseIfNotExist=true</a:t>
            </a:r>
            <a:r>
              <a:rPr lang="zh-TW" altLang="zh-TW" dirty="0"/>
              <a:t>，所以如果資料庫不存在，程式會自動建立。接著程式會建立 accounts、transactions 和 settings 三張主要資料表。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921F1-A192-4B3B-8EE5-8558612E876E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76937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dirty="0"/>
              <a:t>最後在 PowerShell 執行 </a:t>
            </a:r>
            <a:r>
              <a:rPr lang="zh-TW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.\run.bat</a:t>
            </a:r>
            <a:r>
              <a:rPr lang="zh-TW" altLang="zh-TW" dirty="0"/>
              <a:t>，程式就會先編譯 Java 檔案，再啟動桌面版個人記帳 App。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921F1-A192-4B3B-8EE5-8558612E876E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19436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首頁 以及按下快速記帳後可以新增支出還有收入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921F1-A192-4B3B-8EE5-8558612E876E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21441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查看分析以及種樹的進度結果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921F1-A192-4B3B-8EE5-8558612E876E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6249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22CDE4-BF65-B323-7E91-B7F390BD3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90924B0-9490-B408-4B92-897A02CE6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8933D9-FA04-1392-B576-0AD7E1E9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84ED-C6F3-4563-ACE6-71D785A72DD0}" type="datetimeFigureOut">
              <a:rPr lang="zh-TW" altLang="en-US" smtClean="0"/>
              <a:t>Thursday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3E65667-836E-DC36-4907-26166A9B9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D1F5CAE-50A5-786E-A95B-1D684D190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6529-F603-47D0-B038-5F41FEB80B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7408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2B00B1-92F0-7370-0417-66B355E0E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8323F7-27A0-1E62-4F5C-845F6C79E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E9E13B-EC32-64AA-DE02-CC297527F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84ED-C6F3-4563-ACE6-71D785A72DD0}" type="datetimeFigureOut">
              <a:rPr lang="zh-TW" altLang="en-US" smtClean="0"/>
              <a:t>Thursday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04BFE8-DBE3-AC8C-405D-2797FA236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44ED95-F2DB-1492-6BC7-3DE261346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6529-F603-47D0-B038-5F41FEB80B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1297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B83316-4D33-8F1A-2254-FDB35A1BC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6199F57-8CA4-5CBA-E889-29429C769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AE13B5-DC4E-4FAA-DD52-F3838CDC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84ED-C6F3-4563-ACE6-71D785A72DD0}" type="datetimeFigureOut">
              <a:rPr lang="zh-TW" altLang="en-US" smtClean="0"/>
              <a:t>Thursday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9C992E-3315-47F3-77BB-B2D4B634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8800581-196A-A93A-3CAB-130113F5D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6529-F603-47D0-B038-5F41FEB80B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7978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FBC655-8C75-785B-35BC-BA1BB17D5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3BB56A-C0C7-7333-BCD6-9E305A29F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8F7327B-C1E0-E375-1E46-67399D155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FED222B-82B9-11D8-F2B2-930216E77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84ED-C6F3-4563-ACE6-71D785A72DD0}" type="datetimeFigureOut">
              <a:rPr lang="zh-TW" altLang="en-US" smtClean="0"/>
              <a:t>Thursday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B516C5-737A-B04C-04DF-FB5368261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6E2936B-CC2B-4380-DD3F-DD3A55A24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6529-F603-47D0-B038-5F41FEB80B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010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322BAE-DABF-5C31-D18E-E4D137498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3F0F61F-AE2E-86A8-8108-B9B67CE60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E788AE7-61B2-31C5-19E7-54600B29E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98F5B20-51F4-08B5-36FD-F934E9CC5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FF11020-6328-7A5D-2C4E-83081D1DED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82EBE1A-DF92-5E69-EF26-51476B02E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84ED-C6F3-4563-ACE6-71D785A72DD0}" type="datetimeFigureOut">
              <a:rPr lang="zh-TW" altLang="en-US" smtClean="0"/>
              <a:t>Thursday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28A430B-BBD1-0F8A-8FA2-624392026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66C1E86-5763-6A06-83AE-D4586DDB3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6529-F603-47D0-B038-5F41FEB80B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0480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A3F8A1-E85D-8DFC-3A21-7155922A0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A45B5D0-4808-2C6C-DDEF-14472EB15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84ED-C6F3-4563-ACE6-71D785A72DD0}" type="datetimeFigureOut">
              <a:rPr lang="zh-TW" altLang="en-US" smtClean="0"/>
              <a:t>Thursday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0A8C77A-DFA9-93EB-AF51-B2580824C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4627184-EE33-CFE9-C4ED-79E6BD3AD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6529-F603-47D0-B038-5F41FEB80B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6127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1E1B727-3BDF-9EBE-E4C1-59BC97757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84ED-C6F3-4563-ACE6-71D785A72DD0}" type="datetimeFigureOut">
              <a:rPr lang="zh-TW" altLang="en-US" smtClean="0"/>
              <a:t>Thursday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3336C87-2BE2-A3F3-FC38-F96D8D784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AE53AB-D3C8-D7D1-F1C2-AF6927161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6529-F603-47D0-B038-5F41FEB80B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0423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6DBDF3-C1C9-F8E1-5D69-FBCB6E188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27C2DE-9E74-D7EE-A652-C880FBDBD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26DF865-612D-70A6-B348-D6A8A7888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B98E854-4ACE-5CED-A5AB-1D833BB2A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84ED-C6F3-4563-ACE6-71D785A72DD0}" type="datetimeFigureOut">
              <a:rPr lang="zh-TW" altLang="en-US" smtClean="0"/>
              <a:t>Thursday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57228E4-7193-1A4C-70D3-278A1EF3A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EBCA740-F1C2-FA3D-0CD4-B505FE510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6529-F603-47D0-B038-5F41FEB80B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95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17635A-0B63-4E9C-FD13-C0F5F7F55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6529A1D-451F-EE29-0D40-49CC6E5815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5ACFE03-534A-B058-2968-6EE7314C0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E87D999-73F3-6350-191E-E7468A08F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84ED-C6F3-4563-ACE6-71D785A72DD0}" type="datetimeFigureOut">
              <a:rPr lang="zh-TW" altLang="en-US" smtClean="0"/>
              <a:t>Thursday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68E278A-41F4-5742-1497-18E448B45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A0FA9CE-3A8D-64B6-7220-D6593CDAE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6529-F603-47D0-B038-5F41FEB80B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777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27805C-6B55-B4C0-F358-F1327674F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57B3724-1892-6A84-D204-9773F8427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847F02-FA28-4DF8-563F-2203757C8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84ED-C6F3-4563-ACE6-71D785A72DD0}" type="datetimeFigureOut">
              <a:rPr lang="zh-TW" altLang="en-US" smtClean="0"/>
              <a:t>Thursday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8167CA-25CA-7FFF-2ADA-5F46AC02A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A524BA-CC14-AB28-21E6-CBC0599CB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6529-F603-47D0-B038-5F41FEB80B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7879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FCC4DEE-E7B6-9142-55E1-58A0DC7335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D56E861-858B-304C-1A8B-7F8F5342F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B8C5BAB-B057-57D3-9E6A-C3D2C07AF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84ED-C6F3-4563-ACE6-71D785A72DD0}" type="datetimeFigureOut">
              <a:rPr lang="zh-TW" altLang="en-US" smtClean="0"/>
              <a:t>Thursday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3B6053-3C1A-22F6-238F-08454C3D8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2733A3-CA80-8049-83C1-A5E8DDDC0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6529-F603-47D0-B038-5F41FEB80B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8986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D2AFC2B-2DDF-E0E3-AA52-72F0552D5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F0AA6D1-5978-BEC3-F65B-614F36BF7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1749B0A-25F9-E945-7DFB-B8D03D0D5F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5D84ED-C6F3-4563-ACE6-71D785A72DD0}" type="datetimeFigureOut">
              <a:rPr lang="zh-TW" altLang="en-US" smtClean="0"/>
              <a:t>Thursday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EE16AB-102B-4A08-5F39-13645BF6D9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EBD407-E13B-A52A-DDEB-C35B01F29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C6529-F603-47D0-B038-5F41FEB80B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5357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C4A3F1-BF0A-412D-3CD4-F463CD729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61966"/>
            <a:ext cx="9144000" cy="2387600"/>
          </a:xfrm>
        </p:spPr>
        <p:txBody>
          <a:bodyPr>
            <a:normAutofit/>
          </a:bodyPr>
          <a:lstStyle/>
          <a:p>
            <a:r>
              <a:rPr lang="zh-TW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Personal Budget Book </a:t>
            </a:r>
            <a:br>
              <a:rPr lang="en-US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個人記帳本</a:t>
            </a:r>
            <a:endParaRPr lang="zh-TW" altLang="en-US" sz="5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EA99F1-23C4-413E-EAA4-1002AF9B2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6687"/>
            <a:ext cx="9144000" cy="97694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物件導向程式語言期末自選題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 13 組 組員：簡俞倢、鍾秉叡、王獻霆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10471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80C323-9F4C-235C-DAFD-7B04F5322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專案動機與目標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D6B7E1-C438-CFF7-CF0B-77357C1C4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630191" cy="45681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本系統旨在解決現代人因消費管道多元（現金、行動支付、信用卡）導致的財 務管理破碎化問題。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透過四層式系統架構，我們不僅提供基礎的帳務記錄更導入「遊戲化激勵機制」，將枯燥的記帳行為轉化為具備成 就感的每日任務。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功能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目標</a:t>
            </a: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收支紀錄與查詢：支援分類、日期、備註輸入，支援歷史紀錄查詢功能 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帳戶管理：建立多帳戶分類（e.g.現金、電子支付等） 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即時統計：每次記帳完自動計算當月收支與結餘 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 互動式 GUI 記帳功能，例如：系統會提示「請輸入金額」 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5. 集點獎勵功能：為了增加使用者持續記帳的意願，系統設計集點機制， 每完成一次記帳即可累積點數（或一些小遊戲種樹…），幫助培養長期 記帳習慣 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6. 設定每月開銷限額 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7. 資料視覺化功能</a:t>
            </a:r>
            <a:endParaRPr lang="zh-TW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03237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E5C8B1-976A-3F69-E0C9-4ECE7DDFD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383"/>
            <a:ext cx="10515600" cy="1325563"/>
          </a:xfrm>
        </p:spPr>
        <p:txBody>
          <a:bodyPr/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系統功能總覽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F62BCDE-4B74-335D-960C-FC8DB5352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505" y="1395277"/>
            <a:ext cx="7628990" cy="406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066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C5F3BC-2346-C112-0770-8D83DB295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770" y="190621"/>
            <a:ext cx="10515600" cy="1325563"/>
          </a:xfrm>
        </p:spPr>
        <p:txBody>
          <a:bodyPr/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Figma 到 Java Swing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E12C198-4C3B-AC8B-AA21-28348D5F8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70" y="1397522"/>
            <a:ext cx="6107902" cy="480218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6DB086C-FEE3-2898-636A-1AC62B27F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5417" y="528193"/>
            <a:ext cx="3271395" cy="580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795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962C32-9AFE-0532-6F58-F7D3FB14F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使用技術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7871B3-C39E-80B1-46B4-4F4B25840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## 使用技術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zh-TW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 Java 25</a:t>
            </a:r>
          </a:p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 Java Swing</a:t>
            </a:r>
          </a:p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 MySQL 8.0</a:t>
            </a:r>
          </a:p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 JDBC</a:t>
            </a:r>
          </a:p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 MySQL Connector/J</a:t>
            </a:r>
          </a:p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 FlatLaf</a:t>
            </a:r>
          </a:p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4934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C63237-86CD-2459-9544-6B7F6C222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資料庫設計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0CE55D-305D-7381-77D0-E6DFD3D3C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18015"/>
          </a:xfrm>
        </p:spPr>
        <p:txBody>
          <a:bodyPr/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本專案使用 MySQL 作為資料庫，用來儲存使用者的錢包資料、收入支出紀錄，以及每月預算設定。</a:t>
            </a:r>
            <a:b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Java Swing 介面透過 JDBC 連線到 MySQL，所有新增、查詢、刪除交易都會直接寫入資料庫。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89D8016-AD0B-1CCB-1852-C5CF1D7AF673}"/>
              </a:ext>
            </a:extLst>
          </p:cNvPr>
          <p:cNvSpPr txBox="1"/>
          <p:nvPr/>
        </p:nvSpPr>
        <p:spPr>
          <a:xfrm>
            <a:off x="1073199" y="3983409"/>
            <a:ext cx="521591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Java Swing App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↓ JDBC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MySQL Database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↓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accounts / transactions / settings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E8377D6-DBB6-AECD-782B-7C4D12265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614" y="3071468"/>
            <a:ext cx="6495028" cy="348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010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072FBB-0B24-C18A-FADF-6FB4FC622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資料表設計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5102C4BE-CAB1-F550-A343-4602EE31B1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969162"/>
              </p:ext>
            </p:extLst>
          </p:nvPr>
        </p:nvGraphicFramePr>
        <p:xfrm>
          <a:off x="775087" y="1556574"/>
          <a:ext cx="10641825" cy="4989280"/>
        </p:xfrm>
        <a:graphic>
          <a:graphicData uri="http://schemas.openxmlformats.org/drawingml/2006/table">
            <a:tbl>
              <a:tblPr/>
              <a:tblGrid>
                <a:gridCol w="3547275">
                  <a:extLst>
                    <a:ext uri="{9D8B030D-6E8A-4147-A177-3AD203B41FA5}">
                      <a16:colId xmlns:a16="http://schemas.microsoft.com/office/drawing/2014/main" val="67871312"/>
                    </a:ext>
                  </a:extLst>
                </a:gridCol>
                <a:gridCol w="3547275">
                  <a:extLst>
                    <a:ext uri="{9D8B030D-6E8A-4147-A177-3AD203B41FA5}">
                      <a16:colId xmlns:a16="http://schemas.microsoft.com/office/drawing/2014/main" val="249172002"/>
                    </a:ext>
                  </a:extLst>
                </a:gridCol>
                <a:gridCol w="3547275">
                  <a:extLst>
                    <a:ext uri="{9D8B030D-6E8A-4147-A177-3AD203B41FA5}">
                      <a16:colId xmlns:a16="http://schemas.microsoft.com/office/drawing/2014/main" val="3047658988"/>
                    </a:ext>
                  </a:extLst>
                </a:gridCol>
              </a:tblGrid>
              <a:tr h="280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資料表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重要欄位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216597"/>
                  </a:ext>
                </a:extLst>
              </a:tr>
              <a:tr h="280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accounts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id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錢包 ID，自動編號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388351"/>
                  </a:ext>
                </a:extLst>
              </a:tr>
              <a:tr h="280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accounts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name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錢包名稱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615239"/>
                  </a:ext>
                </a:extLst>
              </a:tr>
              <a:tr h="280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accounts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錢包類型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226735"/>
                  </a:ext>
                </a:extLst>
              </a:tr>
              <a:tr h="280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accounts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initial_balance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初始金額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211242"/>
                  </a:ext>
                </a:extLst>
              </a:tr>
              <a:tr h="280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transactions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id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交易 ID，自動編號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384093"/>
                  </a:ext>
                </a:extLst>
              </a:tr>
              <a:tr h="280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transactions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date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交易日期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055139"/>
                  </a:ext>
                </a:extLst>
              </a:tr>
              <a:tr h="280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transactions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transaction_time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交易時間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9614697"/>
                  </a:ext>
                </a:extLst>
              </a:tr>
              <a:tr h="280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transactions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kind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交易類型，INCOME 或 EXPENSE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482657"/>
                  </a:ext>
                </a:extLst>
              </a:tr>
              <a:tr h="280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transactions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category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收入或支出分類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452436"/>
                  </a:ext>
                </a:extLst>
              </a:tr>
              <a:tr h="280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transactions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account_id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對應的錢包 ID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132365"/>
                  </a:ext>
                </a:extLst>
              </a:tr>
              <a:tr h="280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transactions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amount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交易金額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170665"/>
                  </a:ext>
                </a:extLst>
              </a:tr>
              <a:tr h="280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transactions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note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備註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976830"/>
                  </a:ext>
                </a:extLst>
              </a:tr>
              <a:tr h="280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settings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id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設定 ID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149449"/>
                  </a:ext>
                </a:extLst>
              </a:tr>
              <a:tr h="280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settings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monthly_limit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每月支出預算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616302"/>
                  </a:ext>
                </a:extLst>
              </a:tr>
              <a:tr h="280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settings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points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種樹或記帳點數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0333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019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C45B38-E553-169D-7892-090C90160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快速記帳功能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7DA90C-CD0C-3A9D-AC45-81EE19DEF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979944" cy="533667"/>
          </a:xfrm>
        </p:spPr>
        <p:txBody>
          <a:bodyPr/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新增收入 / 支出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7D051B7-B0A8-E6F3-25F8-2C93157D2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266" y="183357"/>
            <a:ext cx="3648511" cy="649128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D29C0B7-DBDE-10FB-3096-C60A58DDF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300" y="183357"/>
            <a:ext cx="3562126" cy="632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499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6A0C6D-3D22-E6C9-98CE-816557A6E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31" y="253698"/>
            <a:ext cx="10515600" cy="1325563"/>
          </a:xfrm>
        </p:spPr>
        <p:txBody>
          <a:bodyPr/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財務摘要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51CFF40-C614-AA3F-9414-5840EF053E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5" r="1026"/>
          <a:stretch>
            <a:fillRect/>
          </a:stretch>
        </p:blipFill>
        <p:spPr>
          <a:xfrm>
            <a:off x="7239845" y="465258"/>
            <a:ext cx="3477360" cy="619331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D049471-3E17-5555-29E7-C7AB961611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656"/>
          <a:stretch>
            <a:fillRect/>
          </a:stretch>
        </p:blipFill>
        <p:spPr>
          <a:xfrm>
            <a:off x="3518506" y="465258"/>
            <a:ext cx="3419766" cy="6139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429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197C82-0EC0-9E4C-C346-B9F993B5C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特色功能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種樹機制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EDBEA90-466A-C5AB-393A-A974E820C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079" y="908910"/>
            <a:ext cx="3199837" cy="562159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707920A8-837D-F3D2-BEF1-09728DDA61AE}"/>
              </a:ext>
            </a:extLst>
          </p:cNvPr>
          <p:cNvSpPr txBox="1"/>
          <p:nvPr/>
        </p:nvSpPr>
        <p:spPr>
          <a:xfrm>
            <a:off x="838200" y="2538517"/>
            <a:ext cx="50949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我們的特色功能是查詢助手和種樹機制。查詢助手可以快速回答常見財務問題。種樹機制則是把記帳次數轉換成澆水進度，讓使用者更有動機持續記帳。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新增一筆記帳等於澆水一次，本月澆水 20 次就完成一棵樹。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52863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66EF15-63CD-420F-FE08-A59C256DF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Demo 流程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2378DA-5945-5170-4B61-F37F8FE54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528072" cy="554607"/>
          </a:xfrm>
        </p:spPr>
        <p:txBody>
          <a:bodyPr/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流程圖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0DAC1A1-F61F-F333-DBB8-CB85899FE2FA}"/>
              </a:ext>
            </a:extLst>
          </p:cNvPr>
          <p:cNvSpPr txBox="1"/>
          <p:nvPr/>
        </p:nvSpPr>
        <p:spPr>
          <a:xfrm>
            <a:off x="5180727" y="1284401"/>
            <a:ext cx="183054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啟動程式</a:t>
            </a:r>
          </a:p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↓</a:t>
            </a:r>
          </a:p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首頁</a:t>
            </a:r>
          </a:p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↓</a:t>
            </a:r>
          </a:p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新增支出</a:t>
            </a:r>
          </a:p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↓</a:t>
            </a:r>
          </a:p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新增收入</a:t>
            </a:r>
          </a:p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↓</a:t>
            </a:r>
          </a:p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查看交易紀錄</a:t>
            </a:r>
          </a:p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↓</a:t>
            </a:r>
          </a:p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查看分析</a:t>
            </a:r>
          </a:p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↓</a:t>
            </a:r>
          </a:p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種樹狀態</a:t>
            </a:r>
          </a:p>
        </p:txBody>
      </p:sp>
    </p:spTree>
    <p:extLst>
      <p:ext uri="{BB962C8B-B14F-4D97-AF65-F5344CB8AC3E}">
        <p14:creationId xmlns:p14="http://schemas.microsoft.com/office/powerpoint/2010/main" val="3143950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A17D78-8055-820D-6C48-74C647D39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0" cy="1325563"/>
          </a:xfrm>
        </p:spPr>
        <p:txBody>
          <a:bodyPr/>
          <a:lstStyle/>
          <a:p>
            <a:r>
              <a:rPr lang="zh-TW" altLang="en-US" dirty="0"/>
              <a:t>啟動程式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345F88F-6739-D6DD-D676-F09DC90642B1}"/>
              </a:ext>
            </a:extLst>
          </p:cNvPr>
          <p:cNvSpPr txBox="1"/>
          <p:nvPr/>
        </p:nvSpPr>
        <p:spPr>
          <a:xfrm>
            <a:off x="479884" y="1690688"/>
            <a:ext cx="1171211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 1：Clone 專案</a:t>
            </a:r>
          </a:p>
          <a:p>
            <a:pPr rtl="0">
              <a:buNone/>
            </a:pP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git clone https://github.com/zxc29051617/OOP-G13-Personal-Budget-Book.git</a:t>
            </a:r>
            <a:b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cd OOP-G13-Personal-Budget-Book</a:t>
            </a:r>
          </a:p>
          <a:p>
            <a:pPr>
              <a:buNone/>
            </a:pPr>
            <a:r>
              <a:rPr lang="zh-TW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 2：確認 Java 版本</a:t>
            </a:r>
          </a:p>
          <a:p>
            <a:pPr rtl="0">
              <a:buNone/>
            </a:pP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java -version</a:t>
            </a:r>
            <a:b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javac -version</a:t>
            </a:r>
          </a:p>
          <a:p>
            <a:pPr>
              <a:buNone/>
            </a:pP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確認有安裝 Java 25，或至少能正常使用 java 和 javac。</a:t>
            </a:r>
          </a:p>
          <a:p>
            <a:pPr>
              <a:buNone/>
            </a:pPr>
            <a:r>
              <a:rPr lang="zh-TW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 3：確認 MySQL 有啟動</a:t>
            </a:r>
          </a:p>
          <a:p>
            <a:pPr rtl="0">
              <a:buNone/>
            </a:pP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Get-Service | Where-Object { $_.Name -like "*mysql*" }</a:t>
            </a:r>
          </a:p>
          <a:p>
            <a:pPr>
              <a:buNone/>
            </a:pP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如果看到 MySQL 服務是 Running，代表 MySQL 有啟動。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None/>
            </a:pPr>
            <a:endParaRPr lang="zh-TW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30410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E8CF6D-FEB1-2A2D-1A25-B37B1ED44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外部 jar 設定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143F9B-B0AB-1C18-9ACF-D7B5AB235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136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Step4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jar 檔設定</a:t>
            </a:r>
          </a:p>
          <a:p>
            <a:pPr marL="0" indent="0">
              <a:buNone/>
            </a:pPr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外部 jar 設定</a:t>
            </a:r>
          </a:p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本專案需要將下列 jar 放入 lib/ 資料夾：</a:t>
            </a:r>
            <a:b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b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lib/mysql-connector-j-*.jar</a:t>
            </a:r>
            <a:b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lib/flatlaf-*.jar</a:t>
            </a:r>
          </a:p>
          <a:p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說明</a:t>
            </a:r>
          </a:p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mysql-connector-j：</a:t>
            </a:r>
            <a:b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讓 Java 可以透過 JDBC 連線到 MySQL。</a:t>
            </a:r>
            <a:b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b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flatlaf：</a:t>
            </a:r>
            <a:b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改善 Java Swing 預設介面外觀。</a:t>
            </a:r>
          </a:p>
          <a:p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MySQL root 沒有密碼</a:t>
            </a:r>
          </a:p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 MySQL root 沒有密碼，可以不用另外設定，程式會使用預設值：</a:t>
            </a:r>
          </a:p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user=root</a:t>
            </a:r>
            <a:b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password=</a:t>
            </a:r>
          </a:p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直接執行：</a:t>
            </a:r>
          </a:p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.\run.bat</a:t>
            </a:r>
          </a:p>
        </p:txBody>
      </p:sp>
    </p:spTree>
    <p:extLst>
      <p:ext uri="{BB962C8B-B14F-4D97-AF65-F5344CB8AC3E}">
        <p14:creationId xmlns:p14="http://schemas.microsoft.com/office/powerpoint/2010/main" val="2124355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FC8707-482D-62C7-6F45-918F5A014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啟動程式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62A2015-640A-9532-ECD2-BF02A48BF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347" y="1587979"/>
            <a:ext cx="9506969" cy="490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162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7639360-2AFC-26A5-853A-099B918EC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024" y="352497"/>
            <a:ext cx="3632771" cy="615300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C377E2B-4048-89A3-C8D9-781B484AF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7111" y="1040254"/>
            <a:ext cx="3166880" cy="5634386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A5315AB0-C440-02B6-1951-654F3E452ABF}"/>
              </a:ext>
            </a:extLst>
          </p:cNvPr>
          <p:cNvSpPr txBox="1"/>
          <p:nvPr/>
        </p:nvSpPr>
        <p:spPr>
          <a:xfrm>
            <a:off x="6559598" y="478115"/>
            <a:ext cx="1132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/>
              <a:t>新增支出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0C225B00-66A7-2AEB-F447-82991B4EE5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1201" y="1040254"/>
            <a:ext cx="3204836" cy="5634386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0A7DD87A-F529-41E4-FE6D-24BB0E479E38}"/>
              </a:ext>
            </a:extLst>
          </p:cNvPr>
          <p:cNvSpPr txBox="1"/>
          <p:nvPr/>
        </p:nvSpPr>
        <p:spPr>
          <a:xfrm>
            <a:off x="10084576" y="478115"/>
            <a:ext cx="1193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/>
              <a:t>新增收入</a:t>
            </a:r>
          </a:p>
        </p:txBody>
      </p:sp>
    </p:spTree>
    <p:extLst>
      <p:ext uri="{BB962C8B-B14F-4D97-AF65-F5344CB8AC3E}">
        <p14:creationId xmlns:p14="http://schemas.microsoft.com/office/powerpoint/2010/main" val="2585406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B02C51D2-3080-81F2-3835-035EFAD0F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433" y="699452"/>
            <a:ext cx="3298086" cy="583191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E4655DE-50DF-44A3-1EF1-2719B6874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143" y="811188"/>
            <a:ext cx="3199837" cy="5621599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B4C302D4-9FBE-7B7C-3D01-490FA346645A}"/>
              </a:ext>
            </a:extLst>
          </p:cNvPr>
          <p:cNvSpPr txBox="1"/>
          <p:nvPr/>
        </p:nvSpPr>
        <p:spPr>
          <a:xfrm>
            <a:off x="1827056" y="240547"/>
            <a:ext cx="2221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/>
              <a:t>查看交易紀錄</a:t>
            </a:r>
            <a:r>
              <a:rPr lang="en-US" altLang="zh-TW" sz="1800" dirty="0"/>
              <a:t>&amp;</a:t>
            </a:r>
            <a:r>
              <a:rPr lang="zh-TW" altLang="en-US" sz="1800" dirty="0"/>
              <a:t>分析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FA04554-8B14-05A3-3B53-5AA6B270189C}"/>
              </a:ext>
            </a:extLst>
          </p:cNvPr>
          <p:cNvSpPr txBox="1"/>
          <p:nvPr/>
        </p:nvSpPr>
        <p:spPr>
          <a:xfrm>
            <a:off x="6817865" y="240547"/>
            <a:ext cx="11325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/>
              <a:t>種樹狀態</a:t>
            </a:r>
          </a:p>
        </p:txBody>
      </p:sp>
    </p:spTree>
    <p:extLst>
      <p:ext uri="{BB962C8B-B14F-4D97-AF65-F5344CB8AC3E}">
        <p14:creationId xmlns:p14="http://schemas.microsoft.com/office/powerpoint/2010/main" val="871574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Thank You For Listening Images – Browse 13,107 Stock Photos, Vectors, and  Video | Adobe Stock">
            <a:extLst>
              <a:ext uri="{FF2B5EF4-FFF2-40B4-BE49-F238E27FC236}">
                <a16:creationId xmlns:a16="http://schemas.microsoft.com/office/drawing/2014/main" id="{6F57480E-C2AB-03CE-FDBD-2564B7D88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260" y="1481296"/>
            <a:ext cx="7509480" cy="389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195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1492</Words>
  <Application>Microsoft Office PowerPoint</Application>
  <PresentationFormat>寬螢幕</PresentationFormat>
  <Paragraphs>177</Paragraphs>
  <Slides>17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微軟正黑體</vt:lpstr>
      <vt:lpstr>Aptos</vt:lpstr>
      <vt:lpstr>Aptos Display</vt:lpstr>
      <vt:lpstr>Arial</vt:lpstr>
      <vt:lpstr>Office 佈景主題</vt:lpstr>
      <vt:lpstr>Personal Budget Book  個人記帳本</vt:lpstr>
      <vt:lpstr>專案動機與目標</vt:lpstr>
      <vt:lpstr>系統功能總覽</vt:lpstr>
      <vt:lpstr>Figma 到 Java Swing</vt:lpstr>
      <vt:lpstr>使用技術</vt:lpstr>
      <vt:lpstr>資料庫設計</vt:lpstr>
      <vt:lpstr>資料表設計</vt:lpstr>
      <vt:lpstr>快速記帳功能</vt:lpstr>
      <vt:lpstr>財務摘要</vt:lpstr>
      <vt:lpstr>特色功能：種樹機制</vt:lpstr>
      <vt:lpstr>Demo 流程</vt:lpstr>
      <vt:lpstr>啟動程式</vt:lpstr>
      <vt:lpstr>外部 jar 設定</vt:lpstr>
      <vt:lpstr>啟動程式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王獻霆</dc:creator>
  <cp:lastModifiedBy>王獻霆</cp:lastModifiedBy>
  <cp:revision>2</cp:revision>
  <dcterms:created xsi:type="dcterms:W3CDTF">2026-06-11T12:49:14Z</dcterms:created>
  <dcterms:modified xsi:type="dcterms:W3CDTF">2026-06-11T14:17:32Z</dcterms:modified>
</cp:coreProperties>
</file>